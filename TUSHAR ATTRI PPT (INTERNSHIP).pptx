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logo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81729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548640"/>
            <a:ext cx="2377440" cy="237744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5394960"/>
            <a:ext cx="2926080" cy="292608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91440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155448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210312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237744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 PROGRAM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Master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Report on Data Science &amp; Machine Learning using the RapidMiner Platform, supported by Siemens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526280"/>
            <a:ext cx="8686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Attri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25SCS1003000538   |   Batch 2026–27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 |   Semester: 3rd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Noida, U.P.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Siemens Industry Software (India) Pvt. Ltd.</a:t>
            </a:r>
            <a:endParaRPr lang="en-US" sz="1700" dirty="0"/>
          </a:p>
        </p:txBody>
      </p:sp>
      <p:pic>
        <p:nvPicPr>
          <p:cNvPr id="14" name="IILM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"/>
            <a:ext cx="2926080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an account of the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AICTE–EduSkills Virtual Internship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undertaken in “Siemens Data Science Master,” carried out during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– August 2026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(Student ID: 25SCS1003000538).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Pursued as part of the B.Tech CSE curriculum at IILM University, under the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initiative of the Ministry of Education, with AICTE, EduSkills Foundation and Siemens Industry Software (India) Pvt. Ltd.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6309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combined structured, industry-relevant learning in Data Science and Machine Learning using the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platform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self-paced modules, weekly assessments, project documentation, and a Final Assessment Test.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818120" y="1508760"/>
            <a:ext cx="3794760" cy="4480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18288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18388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structured learning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83880" y="32004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8388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Master certifications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45720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83880" y="5394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grade — Outstanding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organizations jointly designed and delivered this internship track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384048" cy="38404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33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body under the Ministry of Education; oversees the National Internship Portal through which this internship was offered.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48840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633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Skilling initiative themed “Nation Building Through Skills”; partners with global tech companies to deliver industry-aligned internships.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229600" y="19202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148840"/>
            <a:ext cx="384048" cy="38404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633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Industry Software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58200" y="3017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 for the Data Science Master track — curriculum, certification and mentorship via Altair/RapidMiner tools.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87952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6725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(An Altair Company)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505663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and ML platform used throughout — data engineering, machine learning, deployment and administration.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389120" y="395935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4187952"/>
            <a:ext cx="384048" cy="38404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46725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17720" y="505663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institute — School of Computer Science and Engineering — providing academic supervision for the internship and report.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0" cy="420624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00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AI/ML adoption across industries has widened the gap between academic curricula and the practical, tool-based skills employers expect.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hold strong theoretical knowledge of statistics and algorithms, but lack hands-on exposure to industry-standard platforms for data access, transformation, model building, deployment and enterprise administration.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34340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week-wise, hands-on learning path on the RapidMiner platform — covering the complete data science lifecycle from business problem identification to model deployment and monitoring — making participants industry-ready.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82296" cy="102412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problems suitable for AI/ML solutions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508760"/>
            <a:ext cx="82296" cy="10241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81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856232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load, transform and calculate data using industry-standard practices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79192"/>
            <a:ext cx="82296" cy="102412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523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02666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foundational &amp; advanced ML models — classification, regression, clustering, association rules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679192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679192"/>
            <a:ext cx="82296" cy="10241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7523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02666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advanced data handling, automation and text 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49624"/>
            <a:ext cx="82296" cy="102412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227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970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parameter optimization, cross-validation, feature engineering &amp; time-series forecasting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9624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849624"/>
            <a:ext cx="82296" cy="10241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9227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1970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monitor ML models; understand management &amp; web app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20056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020056"/>
            <a:ext cx="82296" cy="102412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93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36752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RapidMiner AI Hub — Radoop, real-time scoring, Marketplace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5020056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020056"/>
            <a:ext cx="82296" cy="102412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093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536752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weekly assessments, documentation and the Final Assessment Test for certification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8-week, week-wise learning plan across RapidMiner certification modules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60704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737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0607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3736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— Professional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business problems suitable for AI/ML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0607040" cy="457200"/>
          </a:xfrm>
          <a:prstGeom prst="rect">
            <a:avLst/>
          </a:prstGeom>
          <a:solidFill>
            <a:srgbClr val="EFF4F8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3736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Professional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Accessing, loading, transforming &amp; calculating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0607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737360" y="3108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Professional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3108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foundational machine learning skills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0607040" cy="457200"/>
          </a:xfrm>
          <a:prstGeom prst="rect">
            <a:avLst/>
          </a:prstGeom>
          <a:solidFill>
            <a:srgbClr val="EFF4F8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3736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Master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566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advanced data handling &amp; automation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10607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73736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Master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4023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advanced machine learning techniques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10607040" cy="457200"/>
          </a:xfrm>
          <a:prstGeom prst="rect">
            <a:avLst/>
          </a:prstGeom>
          <a:solidFill>
            <a:srgbClr val="EFF4F8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73736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— Master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4480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and monitoring ML models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0607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737360" y="4937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— Master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4937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and managing RapidMiner AI Hub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394960"/>
            <a:ext cx="10607040" cy="457200"/>
          </a:xfrm>
          <a:prstGeom prst="rect">
            <a:avLst/>
          </a:prstGeom>
          <a:solidFill>
            <a:srgbClr val="EFF4F8"/>
          </a:solidFill>
          <a:ln w="6350">
            <a:solidFill>
              <a:srgbClr val="E3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394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73736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— Master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5394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platform operations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925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skill-based virtual internship — no monetary stipend; focus remained on structured learning, assessment and certification.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COMPONENTS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256032" cy="25603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196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Studio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Visual, code-free workflow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56032" cy="25603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3865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AI Hub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Enterprise deployment &amp; collaboration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256032" cy="25603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9535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Radoop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Big-data integration with Hadoop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256032" cy="25603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520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Models deployed as live web services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256032" cy="25603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087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Marketplace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Extends platform with operators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1874520"/>
            <a:ext cx="1433779" cy="384048"/>
          </a:xfrm>
          <a:prstGeom prst="roundRect">
            <a:avLst>
              <a:gd name="adj" fmla="val 19048"/>
            </a:avLst>
          </a:prstGeom>
          <a:solidFill>
            <a:srgbClr val="CFEFE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874520"/>
            <a:ext cx="14337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17459" y="18745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CFEFEF"/>
          </a:solidFill>
          <a:ln/>
        </p:spPr>
      </p:sp>
      <p:sp>
        <p:nvSpPr>
          <p:cNvPr id="24" name="Text 22"/>
          <p:cNvSpPr/>
          <p:nvPr/>
        </p:nvSpPr>
        <p:spPr>
          <a:xfrm>
            <a:off x="8017459" y="1874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51899" y="18745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CFEFEF"/>
          </a:solidFill>
          <a:ln/>
        </p:spPr>
      </p:sp>
      <p:sp>
        <p:nvSpPr>
          <p:cNvPr id="26" name="Text 24"/>
          <p:cNvSpPr/>
          <p:nvPr/>
        </p:nvSpPr>
        <p:spPr>
          <a:xfrm>
            <a:off x="9251899" y="1874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46520" y="2377440"/>
            <a:ext cx="1686154" cy="384048"/>
          </a:xfrm>
          <a:prstGeom prst="roundRect">
            <a:avLst>
              <a:gd name="adj" fmla="val 19048"/>
            </a:avLst>
          </a:prstGeom>
          <a:solidFill>
            <a:srgbClr val="CFEFEF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2377440"/>
            <a:ext cx="1686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69834" y="2377440"/>
            <a:ext cx="1602029" cy="384048"/>
          </a:xfrm>
          <a:prstGeom prst="roundRect">
            <a:avLst>
              <a:gd name="adj" fmla="val 19048"/>
            </a:avLst>
          </a:prstGeom>
          <a:solidFill>
            <a:srgbClr val="CFEFEF"/>
          </a:solidFill>
          <a:ln/>
        </p:spPr>
      </p:sp>
      <p:sp>
        <p:nvSpPr>
          <p:cNvPr id="30" name="Text 28"/>
          <p:cNvSpPr/>
          <p:nvPr/>
        </p:nvSpPr>
        <p:spPr>
          <a:xfrm>
            <a:off x="8269834" y="2377440"/>
            <a:ext cx="16020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46520" y="2880360"/>
            <a:ext cx="1854403" cy="384048"/>
          </a:xfrm>
          <a:prstGeom prst="roundRect">
            <a:avLst>
              <a:gd name="adj" fmla="val 19048"/>
            </a:avLst>
          </a:prstGeom>
          <a:solidFill>
            <a:srgbClr val="CFEFEF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880360"/>
            <a:ext cx="18544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38083" y="2880360"/>
            <a:ext cx="2190902" cy="384048"/>
          </a:xfrm>
          <a:prstGeom prst="roundRect">
            <a:avLst>
              <a:gd name="adj" fmla="val 19048"/>
            </a:avLst>
          </a:prstGeom>
          <a:solidFill>
            <a:srgbClr val="CFEFEF"/>
          </a:solidFill>
          <a:ln/>
        </p:spPr>
      </p:sp>
      <p:sp>
        <p:nvSpPr>
          <p:cNvPr id="34" name="Text 32"/>
          <p:cNvSpPr/>
          <p:nvPr/>
        </p:nvSpPr>
        <p:spPr>
          <a:xfrm>
            <a:off x="8438083" y="2880360"/>
            <a:ext cx="21909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AUTOMATION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4069080"/>
            <a:ext cx="1543507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069080"/>
            <a:ext cx="15435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Branches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27187" y="40690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39" name="Text 37"/>
          <p:cNvSpPr/>
          <p:nvPr/>
        </p:nvSpPr>
        <p:spPr>
          <a:xfrm>
            <a:off x="8127187" y="4069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727387" y="4069080"/>
            <a:ext cx="1704442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41" name="Text 39"/>
          <p:cNvSpPr/>
          <p:nvPr/>
        </p:nvSpPr>
        <p:spPr>
          <a:xfrm>
            <a:off x="9727387" y="4069080"/>
            <a:ext cx="1704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46520" y="4572000"/>
            <a:ext cx="819302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4572000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402982" y="4572000"/>
            <a:ext cx="1382573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45" name="Text 43"/>
          <p:cNvSpPr/>
          <p:nvPr/>
        </p:nvSpPr>
        <p:spPr>
          <a:xfrm>
            <a:off x="7402982" y="4572000"/>
            <a:ext cx="1382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Cleansing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22715" y="4572000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47" name="Text 45"/>
          <p:cNvSpPr/>
          <p:nvPr/>
        </p:nvSpPr>
        <p:spPr>
          <a:xfrm>
            <a:off x="8922715" y="4572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718243" y="4572000"/>
            <a:ext cx="738835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49" name="Text 47"/>
          <p:cNvSpPr/>
          <p:nvPr/>
        </p:nvSpPr>
        <p:spPr>
          <a:xfrm>
            <a:off x="9718243" y="4572000"/>
            <a:ext cx="738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594238" y="4572000"/>
            <a:ext cx="899770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51" name="Text 49"/>
          <p:cNvSpPr/>
          <p:nvPr/>
        </p:nvSpPr>
        <p:spPr>
          <a:xfrm>
            <a:off x="10594238" y="4572000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46520" y="5074920"/>
            <a:ext cx="980237" cy="384048"/>
          </a:xfrm>
          <a:prstGeom prst="roundRect">
            <a:avLst>
              <a:gd name="adj" fmla="val 19048"/>
            </a:avLst>
          </a:prstGeom>
          <a:solidFill>
            <a:srgbClr val="FCE7D4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5074920"/>
            <a:ext cx="980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5806440"/>
            <a:ext cx="1065276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5806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pPr indent="0" marL="0">
              <a:buNone/>
            </a:pPr>
            <a:r>
              <a:rPr lang="en-US" sz="12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Cross-Industry Standard Process for Data Mining, used as the conceptual framework throughout the program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client-server architecture spanning design, management, big data, and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652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233172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8745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RapidMiner Studio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87452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workflow designer used by data scientists to build, test and validate processes locally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1691640" y="2587752"/>
            <a:ext cx="0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15768"/>
            <a:ext cx="10652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15768"/>
            <a:ext cx="233172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1576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Layer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71576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RapidMiner AI 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715768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manages processes, schedules jobs, controls access, stores shared repositories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1691640" y="3429000"/>
            <a:ext cx="0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57016"/>
            <a:ext cx="10652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57016"/>
            <a:ext cx="233172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570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Integration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35570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RapidMiner Radoop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3557016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Hadoop/Spark clusters for large-scale in-cluster processing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691640" y="4270248"/>
            <a:ext cx="0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98264"/>
            <a:ext cx="10652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398264"/>
            <a:ext cx="233172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39826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Scoring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63240" y="439826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Scoring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0" y="4398264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trained models as REST web services for live predictions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1691640" y="5111496"/>
            <a:ext cx="0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39512"/>
            <a:ext cx="10652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39512"/>
            <a:ext cx="2331720" cy="7132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2395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Layer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063240" y="523951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RapidMiner Marketplace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52160" y="5239512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operators, connectors and extensions plugged into the core platform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CRISP-DM Mapping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8-week curriculum was mapped across the CRISP-DM data mining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36776" y="2286000"/>
            <a:ext cx="8887968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16736" y="1965960"/>
            <a:ext cx="640080" cy="64008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7" name="Text 5"/>
          <p:cNvSpPr/>
          <p:nvPr/>
        </p:nvSpPr>
        <p:spPr>
          <a:xfrm>
            <a:off x="131673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993392" cy="2926080"/>
          </a:xfrm>
          <a:prstGeom prst="rect">
            <a:avLst/>
          </a:prstGeom>
          <a:solidFill>
            <a:srgbClr val="081729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0175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37947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business problems suitable for AI/ML solutions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538728" y="1965960"/>
            <a:ext cx="640080" cy="64008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62072" y="2880360"/>
            <a:ext cx="1993392" cy="2926080"/>
          </a:xfrm>
          <a:prstGeom prst="rect">
            <a:avLst/>
          </a:prstGeom>
          <a:solidFill>
            <a:srgbClr val="081729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0175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Preparation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71800" y="37947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&amp; 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99232" y="416052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Accessing, loading, cleansing and transforming data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760720" y="196596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84064" y="2880360"/>
            <a:ext cx="1993392" cy="2926080"/>
          </a:xfrm>
          <a:prstGeom prst="rect">
            <a:avLst/>
          </a:prstGeom>
          <a:solidFill>
            <a:srgbClr val="081729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30175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93792" y="37947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&amp; 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21224" y="416052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validating and optimizing predictive models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982712" y="1965960"/>
            <a:ext cx="640080" cy="64008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5" name="Text 23"/>
          <p:cNvSpPr/>
          <p:nvPr/>
        </p:nvSpPr>
        <p:spPr>
          <a:xfrm>
            <a:off x="798271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306056" y="2880360"/>
            <a:ext cx="1993392" cy="2926080"/>
          </a:xfrm>
          <a:prstGeom prst="rect">
            <a:avLst/>
          </a:prstGeom>
          <a:solidFill>
            <a:srgbClr val="081729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15784" y="30175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15784" y="37947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43216" y="416052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models into applications and monitoring performance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204704" y="1965960"/>
            <a:ext cx="640080" cy="64008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31" name="Text 29"/>
          <p:cNvSpPr/>
          <p:nvPr/>
        </p:nvSpPr>
        <p:spPr>
          <a:xfrm>
            <a:off x="1020470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528048" y="2880360"/>
            <a:ext cx="1993392" cy="2926080"/>
          </a:xfrm>
          <a:prstGeom prst="rect">
            <a:avLst/>
          </a:prstGeom>
          <a:solidFill>
            <a:srgbClr val="081729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37776" y="30175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637776" y="379476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 &amp; 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65208" y="416052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and administering the RapidMiner AI Hub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cleared all weekly assessments, project submissions and the Final Assessment Test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61488"/>
            <a:ext cx="365760" cy="36576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532888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Professional &amp; Master level RapidMiner certifications across Applications &amp; Use Cases, Data Engineering, Machine Learning and Platform Administration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94176"/>
            <a:ext cx="365760" cy="36576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65576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the AICTE-EduSkills Certificate of Virtual Internship with an overall Internship Grade of “O” (Outstanding)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626864"/>
            <a:ext cx="365760" cy="36576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398264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practical, industry-relevant proficiency across the complete data science lifecycle — from problem identification to enterprise deployment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559552"/>
            <a:ext cx="365760" cy="36576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59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33095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readiness for entry-level roles and further pursuits in Data Science, ML and AI-driven application development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1600200"/>
            <a:ext cx="3977640" cy="4663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1965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GRADE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2286000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7635240" y="37033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21040" y="4251960"/>
            <a:ext cx="2606040" cy="0"/>
          </a:xfrm>
          <a:prstGeom prst="line">
            <a:avLst/>
          </a:prstGeom>
          <a:noFill/>
          <a:ln w="19050">
            <a:solidFill>
              <a:srgbClr val="00A8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4480560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
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497fac1ca5c216943b93
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
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25SCS1003000538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 Earned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RapidMiner (Altair) certifications completed across Professional and Master levels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6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0552"/>
            <a:ext cx="457200" cy="45720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7157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31089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0A8A8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Level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33672" y="1874520"/>
            <a:ext cx="3456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9704" y="2130552"/>
            <a:ext cx="457200" cy="45720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9704" y="27157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9704" y="31089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0A8A8"/>
          </a:solidFill>
          <a:ln/>
        </p:spPr>
      </p:sp>
      <p:sp>
        <p:nvSpPr>
          <p:cNvPr id="16" name="Text 14"/>
          <p:cNvSpPr/>
          <p:nvPr/>
        </p:nvSpPr>
        <p:spPr>
          <a:xfrm>
            <a:off x="4489704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Level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18704" y="1874520"/>
            <a:ext cx="3456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74736" y="2130552"/>
            <a:ext cx="457200" cy="45720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9" name="Text 17"/>
          <p:cNvSpPr/>
          <p:nvPr/>
        </p:nvSpPr>
        <p:spPr>
          <a:xfrm>
            <a:off x="8174736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74736" y="27157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74736" y="31089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0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8174736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Level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3456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3913632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04672" y="449884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" y="48920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2994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892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Level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33672" y="3657600"/>
            <a:ext cx="3456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9704" y="3913632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1" name="Text 29"/>
          <p:cNvSpPr/>
          <p:nvPr/>
        </p:nvSpPr>
        <p:spPr>
          <a:xfrm>
            <a:off x="4489704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489704" y="449884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9704" y="48920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2994A"/>
          </a:solidFill>
          <a:ln/>
        </p:spPr>
      </p:sp>
      <p:sp>
        <p:nvSpPr>
          <p:cNvPr id="34" name="Text 32"/>
          <p:cNvSpPr/>
          <p:nvPr/>
        </p:nvSpPr>
        <p:spPr>
          <a:xfrm>
            <a:off x="4489704" y="4892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Level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18704" y="3657600"/>
            <a:ext cx="34564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74736" y="3913632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7" name="Text 35"/>
          <p:cNvSpPr/>
          <p:nvPr/>
        </p:nvSpPr>
        <p:spPr>
          <a:xfrm>
            <a:off x="8174736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174736" y="449884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74736" y="48920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2994A"/>
          </a:solidFill>
          <a:ln/>
        </p:spPr>
      </p:sp>
      <p:sp>
        <p:nvSpPr>
          <p:cNvPr id="40" name="Text 38"/>
          <p:cNvSpPr/>
          <p:nvPr/>
        </p:nvSpPr>
        <p:spPr>
          <a:xfrm>
            <a:off x="8174736" y="4892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Level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577840"/>
            <a:ext cx="10652760" cy="594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5778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— Master Certification  </a:t>
            </a:r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Studio installation, AI Hub administration, Radoop, real-time scoring &amp; Marketplace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|  Tushar Attri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8172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  •  AICTE – EduSkills  •  Supported by Siemens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4248" y="3840480"/>
            <a:ext cx="274320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Attri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25SCS1003000538  |  B.Tech CSE,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2026-08-30T12:54:42Z</dcterms:created>
  <dcterms:modified xsi:type="dcterms:W3CDTF">2026-08-30T12:54:42Z</dcterms:modified>
</cp:coreProperties>
</file>